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文件來源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bubble3D val="0"/>
            <c:spPr>
              <a:solidFill>
                <a:srgbClr val="0077B6"/>
              </a:solidFill>
              <a:effectLst/>
            </c:spPr>
          </c:dPt>
          <c:dPt>
            <c:idx val="2"/>
            <c:bubble3D val="0"/>
            <c:spPr>
              <a:solidFill>
                <a:srgbClr val="0891B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amb82-mini-docs (180)</c:v>
                </c:pt>
                <c:pt idx="1">
                  <c:v>ameba-arduino-pro2 (1,143)</c:v>
                </c:pt>
                <c:pt idx="2">
                  <c:v>ameba-rtos-pro2 (2,207)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180</c:v>
                </c:pt>
                <c:pt idx="1">
                  <c:v>1143</c:v>
                </c:pt>
                <c:pt idx="2">
                  <c:v>2207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2.png"/><Relationship Id="rId9" Type="http://schemas.openxmlformats.org/officeDocument/2006/relationships/image" Target="../media/image-4-2.png"/><Relationship Id="rId10" Type="http://schemas.openxmlformats.org/officeDocument/2006/relationships/image" Target="../media/image-4-2.png"/><Relationship Id="rId11" Type="http://schemas.openxmlformats.org/officeDocument/2006/relationships/image" Target="../media/image-4-2.png"/><Relationship Id="rId12" Type="http://schemas.openxmlformats.org/officeDocument/2006/relationships/image" Target="../media/image-4-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2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1.png"/><Relationship Id="rId4" Type="http://schemas.openxmlformats.org/officeDocument/2006/relationships/image" Target="../media/image-6-4.png"/><Relationship Id="rId5" Type="http://schemas.openxmlformats.org/officeDocument/2006/relationships/image" Target="../media/image-6-1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2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2.png"/><Relationship Id="rId5" Type="http://schemas.openxmlformats.org/officeDocument/2006/relationships/image" Target="../media/image-10-5.png"/><Relationship Id="rId6" Type="http://schemas.openxmlformats.org/officeDocument/2006/relationships/image" Target="../media/image-10-2.png"/><Relationship Id="rId7" Type="http://schemas.openxmlformats.org/officeDocument/2006/relationships/image" Target="../media/image-10-7.png"/><Relationship Id="rId8" Type="http://schemas.openxmlformats.org/officeDocument/2006/relationships/image" Target="../media/image-10-2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1.png"/><Relationship Id="rId5" Type="http://schemas.openxmlformats.org/officeDocument/2006/relationships/image" Target="../media/image-14-2.png"/><Relationship Id="rId6" Type="http://schemas.openxmlformats.org/officeDocument/2006/relationships/image" Target="../media/image-14-3.png"/><Relationship Id="rId7" Type="http://schemas.openxmlformats.org/officeDocument/2006/relationships/image" Target="../media/image-14-1.png"/><Relationship Id="rId8" Type="http://schemas.openxmlformats.org/officeDocument/2006/relationships/image" Target="../media/image-14-2.png"/><Relationship Id="rId9" Type="http://schemas.openxmlformats.org/officeDocument/2006/relationships/image" Target="../media/image-14-3.png"/><Relationship Id="rId10" Type="http://schemas.openxmlformats.org/officeDocument/2006/relationships/image" Target="../media/image-14-1.png"/><Relationship Id="rId11" Type="http://schemas.openxmlformats.org/officeDocument/2006/relationships/image" Target="../media/image-14-2.png"/><Relationship Id="rId12" Type="http://schemas.openxmlformats.org/officeDocument/2006/relationships/image" Target="../media/image-14-3.png"/><Relationship Id="rId13" Type="http://schemas.openxmlformats.org/officeDocument/2006/relationships/image" Target="../media/image-14-1.png"/><Relationship Id="rId14" Type="http://schemas.openxmlformats.org/officeDocument/2006/relationships/image" Target="../media/image-14-2.png"/><Relationship Id="rId15" Type="http://schemas.openxmlformats.org/officeDocument/2006/relationships/image" Target="../media/image-14-3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280160"/>
            <a:ext cx="54864" cy="2194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887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AMB82 Mini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Server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0584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— AI-Powered Embedded Development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Jimmy Chin  |  2026.03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914400" cy="914400"/>
          </a:xfrm>
          <a:prstGeom prst="ellipse">
            <a:avLst/>
          </a:prstGeom>
          <a:solidFill>
            <a:srgbClr val="0077B6">
              <a:alpha val="85000"/>
            </a:srgbClr>
          </a:solidFill>
          <a:ln/>
        </p:spPr>
      </p:sp>
      <p:pic>
        <p:nvPicPr>
          <p:cNvPr id="8" name="Image 0" descr="/sessions/determined-amazing-franklin/assets/chip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68" y="1572768"/>
            <a:ext cx="512064" cy="5120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8080" y="1097280"/>
            <a:ext cx="777240" cy="777240"/>
          </a:xfrm>
          <a:prstGeom prst="ellipse">
            <a:avLst/>
          </a:prstGeom>
          <a:solidFill>
            <a:srgbClr val="0891B2">
              <a:alpha val="85000"/>
            </a:srgbClr>
          </a:solidFill>
          <a:ln/>
        </p:spPr>
      </p:sp>
      <p:pic>
        <p:nvPicPr>
          <p:cNvPr id="10" name="Image 1" descr="/sessions/determined-amazing-franklin/assets/brain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073" y="1268273"/>
            <a:ext cx="435254" cy="43525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80960" y="2103120"/>
            <a:ext cx="685800" cy="685800"/>
          </a:xfrm>
          <a:prstGeom prst="ellipse">
            <a:avLst/>
          </a:prstGeom>
          <a:solidFill>
            <a:srgbClr val="00B4D8">
              <a:alpha val="85000"/>
            </a:srgbClr>
          </a:solidFill>
          <a:ln/>
        </p:spPr>
      </p:sp>
      <p:pic>
        <p:nvPicPr>
          <p:cNvPr id="12" name="Image 2" descr="/sessions/determined-amazing-franklin/assets/plug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836" y="2253996"/>
            <a:ext cx="384048" cy="38404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583680" y="2560320"/>
            <a:ext cx="731520" cy="731520"/>
          </a:xfrm>
          <a:prstGeom prst="ellipse">
            <a:avLst/>
          </a:prstGeom>
          <a:solidFill>
            <a:srgbClr val="0E7490">
              <a:alpha val="85000"/>
            </a:srgbClr>
          </a:solidFill>
          <a:ln/>
        </p:spPr>
      </p:sp>
      <p:pic>
        <p:nvPicPr>
          <p:cNvPr id="14" name="Image 3" descr="/sessions/determined-amazing-franklin/assets/terminal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614" y="2721254"/>
            <a:ext cx="409651" cy="409651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315200" y="3017520"/>
            <a:ext cx="640080" cy="640080"/>
          </a:xfrm>
          <a:prstGeom prst="ellipse">
            <a:avLst/>
          </a:prstGeom>
          <a:solidFill>
            <a:srgbClr val="0077B6">
              <a:alpha val="85000"/>
            </a:srgbClr>
          </a:solidFill>
          <a:ln/>
        </p:spPr>
      </p:sp>
      <p:pic>
        <p:nvPicPr>
          <p:cNvPr id="16" name="Image 4" descr="/sessions/determined-amazing-franklin/assets/search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018" y="3158338"/>
            <a:ext cx="358445" cy="358445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Text 11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Mini MCP Server — POC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6" name="Image 0" descr="/sessions/determined-amazing-franklin/asset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3258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Coding 時代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1508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如何改變開發流程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pic>
        <p:nvPicPr>
          <p:cNvPr id="11" name="Image 1" descr="/sessions/determined-amazing-franklin/assets/pl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202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1856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協議簡介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82880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AI 具備真正的工具能力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pic>
        <p:nvPicPr>
          <p:cNvPr id="16" name="Image 2" descr="/sessions/determined-amazing-franklin/assets/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5146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Mini + MCP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2697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嵌入式開發遇上 AI Agent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pic>
        <p:nvPicPr>
          <p:cNvPr id="21" name="Image 3" descr="/sessions/determined-amazing-franklin/asset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1089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0" y="3044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專案架構與模組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828800" y="3291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系統設計與核心元件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365760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pic>
        <p:nvPicPr>
          <p:cNvPr id="26" name="Image 4" descr="/sessions/determined-amazing-franklin/assets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370332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28800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語意搜尋引擎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82880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3,500+ 文件的離線搜尋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40080" y="425196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3"/>
          <p:cNvSpPr/>
          <p:nvPr/>
        </p:nvSpPr>
        <p:spPr>
          <a:xfrm>
            <a:off x="64008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pic>
        <p:nvPicPr>
          <p:cNvPr id="31" name="Image 5" descr="/sessions/determined-amazing-franklin/assets/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429768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828800" y="4233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成果與展望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1828800" y="4480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測試結果、限制、未來方向</a:t>
            </a:r>
            <a:endParaRPr lang="en-US" sz="1100" dirty="0"/>
          </a:p>
        </p:txBody>
      </p:sp>
      <p:pic>
        <p:nvPicPr>
          <p:cNvPr id="34" name="Image 6" descr="/sessions/determined-amazing-franklin/assets/diagram.png">    </p:cNvPr>
          <p:cNvPicPr>
            <a:picLocks noChangeAspect="1"/>
          </p:cNvPicPr>
          <p:nvPr/>
        </p:nvPicPr>
        <p:blipFill>
          <a:blip r:embed="rId7">
            <a:alphaModFix amt="15000"/>
          </a:blip>
          <a:stretch>
            <a:fillRect/>
          </a:stretch>
        </p:blipFill>
        <p:spPr>
          <a:xfrm>
            <a:off x="5943600" y="1097280"/>
            <a:ext cx="2743200" cy="2743200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6" name="Text 27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Mini MCP Server — POC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Coding 時代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不只是補全程式碼，而是自主完成整個開發任務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29260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265176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828800"/>
            <a:ext cx="731520" cy="731520"/>
          </a:xfrm>
          <a:prstGeom prst="ellipse">
            <a:avLst/>
          </a:prstGeom>
          <a:solidFill>
            <a:srgbClr val="94A3B8">
              <a:alpha val="85000"/>
            </a:srgbClr>
          </a:solidFill>
          <a:ln/>
        </p:spPr>
      </p:sp>
      <p:pic>
        <p:nvPicPr>
          <p:cNvPr id="8" name="Image 0" descr="/sessions/determined-amazing-franklin/assets/code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8254" y="1989734"/>
            <a:ext cx="409651" cy="4096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傳統開發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手動一切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429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開發者親自寫每一行程式碼、搜尋文件、編譯除錯</a:t>
            </a:r>
            <a:endParaRPr lang="en-US" sz="1100" dirty="0"/>
          </a:p>
        </p:txBody>
      </p:sp>
      <p:pic>
        <p:nvPicPr>
          <p:cNvPr id="12" name="Image 1" descr="/sessions/determined-amazing-franklin/assets/arrow-right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0"/>
            <a:ext cx="228600" cy="228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37560" y="1554480"/>
            <a:ext cx="2651760" cy="29260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37560" y="1554480"/>
            <a:ext cx="2651760" cy="457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5" name="Shape 11"/>
          <p:cNvSpPr/>
          <p:nvPr/>
        </p:nvSpPr>
        <p:spPr>
          <a:xfrm>
            <a:off x="4297680" y="1828800"/>
            <a:ext cx="731520" cy="731520"/>
          </a:xfrm>
          <a:prstGeom prst="ellipse">
            <a:avLst/>
          </a:prstGeom>
          <a:solidFill>
            <a:srgbClr val="0077B6">
              <a:alpha val="85000"/>
            </a:srgbClr>
          </a:solidFill>
          <a:ln/>
        </p:spPr>
      </p:sp>
      <p:pic>
        <p:nvPicPr>
          <p:cNvPr id="16" name="Image 2" descr="/sessions/determined-amazing-franklin/assets/laptop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614" y="198973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2044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輔助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352044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時代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611880" y="3429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在游標處補全程式碼，開發者仍是主導者</a:t>
            </a:r>
            <a:endParaRPr lang="en-US" sz="1100" dirty="0"/>
          </a:p>
        </p:txBody>
      </p:sp>
      <p:pic>
        <p:nvPicPr>
          <p:cNvPr id="20" name="Image 3" descr="/sessions/determined-amazing-franklin/assets/arrow-right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743200"/>
            <a:ext cx="228600" cy="2286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217920" y="1554480"/>
            <a:ext cx="2651760" cy="29260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217920" y="1554480"/>
            <a:ext cx="265176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Shape 17"/>
          <p:cNvSpPr/>
          <p:nvPr/>
        </p:nvSpPr>
        <p:spPr>
          <a:xfrm>
            <a:off x="7178040" y="1828800"/>
            <a:ext cx="731520" cy="731520"/>
          </a:xfrm>
          <a:prstGeom prst="ellipse">
            <a:avLst/>
          </a:prstGeom>
          <a:solidFill>
            <a:srgbClr val="00B4D8">
              <a:alpha val="85000"/>
            </a:srgbClr>
          </a:solidFill>
          <a:ln/>
        </p:spPr>
      </p:sp>
      <p:pic>
        <p:nvPicPr>
          <p:cNvPr id="24" name="Image 4" descr="/sessions/determined-amazing-franklin/assets/brain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974" y="1989734"/>
            <a:ext cx="409651" cy="40965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0080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Coding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640080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自主開發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6492240" y="3429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理解需求、搜尋文件、撰寫程式、編譯上傳，端到端完成任務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2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Mini MCP Server — POC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Coding Tools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E0F7FA">
              <a:alpha val="85000"/>
            </a:srgbClr>
          </a:solidFill>
          <a:ln/>
        </p:spPr>
      </p:sp>
      <p:pic>
        <p:nvPicPr>
          <p:cNvPr id="7" name="Image 0" descr="/sessions/determined-amazing-franklin/asset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5837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46304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上的 AI Agent</a:t>
            </a:r>
            <a:endParaRPr lang="en-US" sz="1100" dirty="0"/>
          </a:p>
        </p:txBody>
      </p:sp>
      <p:pic>
        <p:nvPicPr>
          <p:cNvPr id="10" name="Image 1" descr="/sessions/determined-amazing-franklin/asset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終端機中直接對話開發</a:t>
            </a:r>
            <a:endParaRPr lang="en-US" sz="1200" dirty="0"/>
          </a:p>
        </p:txBody>
      </p:sp>
      <p:pic>
        <p:nvPicPr>
          <p:cNvPr id="12" name="Image 2" descr="/sessions/determined-amazing-franklin/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9748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697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自主讀取/修改檔案</a:t>
            </a:r>
            <a:endParaRPr lang="en-US" sz="1200" dirty="0"/>
          </a:p>
        </p:txBody>
      </p:sp>
      <p:pic>
        <p:nvPicPr>
          <p:cNvPr id="14" name="Image 3" descr="/sessions/determined-amazing-franklin/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shell 命令</a:t>
            </a:r>
            <a:endParaRPr lang="en-US" sz="1200" dirty="0"/>
          </a:p>
        </p:txBody>
      </p:sp>
      <p:pic>
        <p:nvPicPr>
          <p:cNvPr id="16" name="Image 4" descr="/sessions/determined-amazing-franklin/asset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52044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 MCP 擴展能力</a:t>
            </a:r>
            <a:endParaRPr lang="en-US" sz="1200" dirty="0"/>
          </a:p>
        </p:txBody>
      </p:sp>
      <p:pic>
        <p:nvPicPr>
          <p:cNvPr id="18" name="Image 5" descr="/sessions/determined-amazing-franklin/asset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93192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51560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支援多步驟複雜任務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2" name="Shape 14"/>
          <p:cNvSpPr/>
          <p:nvPr/>
        </p:nvSpPr>
        <p:spPr>
          <a:xfrm>
            <a:off x="5029200" y="1463040"/>
            <a:ext cx="548640" cy="548640"/>
          </a:xfrm>
          <a:prstGeom prst="ellipse">
            <a:avLst/>
          </a:prstGeom>
          <a:solidFill>
            <a:srgbClr val="E0F7FA">
              <a:alpha val="85000"/>
            </a:srgbClr>
          </a:solidFill>
          <a:ln/>
        </p:spPr>
      </p:sp>
      <p:pic>
        <p:nvPicPr>
          <p:cNvPr id="23" name="Image 6" descr="/sessions/determined-amazing-franklin/assets/lapto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9901" y="1583741"/>
            <a:ext cx="307238" cy="30723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76072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/ VS Code</a:t>
            </a:r>
            <a:endParaRPr lang="en-US" sz="2000" dirty="0"/>
          </a:p>
        </p:txBody>
      </p:sp>
      <p:sp>
        <p:nvSpPr>
          <p:cNvPr id="25" name="Text 16"/>
          <p:cNvSpPr/>
          <p:nvPr/>
        </p:nvSpPr>
        <p:spPr>
          <a:xfrm>
            <a:off x="576072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中的 AI 編輯器</a:t>
            </a:r>
            <a:endParaRPr lang="en-US" sz="1100" dirty="0"/>
          </a:p>
        </p:txBody>
      </p:sp>
      <p:pic>
        <p:nvPicPr>
          <p:cNvPr id="26" name="Image 7" descr="/sessions/determined-amazing-franklin/asset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2286000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4924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內嵌 AI 對話視窗</a:t>
            </a:r>
            <a:endParaRPr lang="en-US" sz="1200" dirty="0"/>
          </a:p>
        </p:txBody>
      </p:sp>
      <p:pic>
        <p:nvPicPr>
          <p:cNvPr id="28" name="Image 8" descr="/sessions/determined-amazing-franklin/asset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2697480"/>
            <a:ext cx="201168" cy="20116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349240" y="2697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上下文感知程式碼編輯</a:t>
            </a:r>
            <a:endParaRPr lang="en-US" sz="1200" dirty="0"/>
          </a:p>
        </p:txBody>
      </p:sp>
      <p:pic>
        <p:nvPicPr>
          <p:cNvPr id="30" name="Image 9" descr="/sessions/determined-amazing-franklin/assets/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3108960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34924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智慧 Tab 補全</a:t>
            </a:r>
            <a:endParaRPr lang="en-US" sz="1200" dirty="0"/>
          </a:p>
        </p:txBody>
      </p:sp>
      <p:pic>
        <p:nvPicPr>
          <p:cNvPr id="32" name="Image 10" descr="/sessions/determined-amazing-franklin/assets/che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3520440"/>
            <a:ext cx="201168" cy="201168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34924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 MCP 整合外部工具</a:t>
            </a:r>
            <a:endParaRPr lang="en-US" sz="1200" dirty="0"/>
          </a:p>
        </p:txBody>
      </p:sp>
      <p:pic>
        <p:nvPicPr>
          <p:cNvPr id="34" name="Image 11" descr="/sessions/determined-amazing-franklin/assets/che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3931920"/>
            <a:ext cx="201168" cy="201168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5349240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Agent mode 自主操作</a:t>
            </a:r>
            <a:endParaRPr lang="en-US" sz="1200" dirty="0"/>
          </a:p>
        </p:txBody>
      </p:sp>
      <p:sp>
        <p:nvSpPr>
          <p:cNvPr id="36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7" name="Text 2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Mini MCP Server — POC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什麼是 MCP？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AI 的「USB 接口」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1828800" cy="10972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45920"/>
            <a:ext cx="18288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00B4D8">
              <a:alpha val="85000"/>
            </a:srgbClr>
          </a:solidFill>
          <a:ln/>
        </p:spPr>
      </p:sp>
      <p:pic>
        <p:nvPicPr>
          <p:cNvPr id="8" name="Image 0" descr="/sessions/determined-amazing-franklin/assets/brain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90378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</a:t>
            </a:r>
            <a:endParaRPr lang="en-US" sz="1300" dirty="0"/>
          </a:p>
        </p:txBody>
      </p:sp>
      <p:pic>
        <p:nvPicPr>
          <p:cNvPr id="10" name="Image 1" descr="/sessions/determined-amazing-franklin/assets/arrow-right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011680"/>
            <a:ext cx="320040" cy="320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97480" y="1645920"/>
            <a:ext cx="1828800" cy="10972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697480" y="1645920"/>
            <a:ext cx="182880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3" name="Shape 9"/>
          <p:cNvSpPr/>
          <p:nvPr/>
        </p:nvSpPr>
        <p:spPr>
          <a:xfrm>
            <a:off x="3291840" y="1783080"/>
            <a:ext cx="548640" cy="548640"/>
          </a:xfrm>
          <a:prstGeom prst="ellipse">
            <a:avLst/>
          </a:prstGeom>
          <a:solidFill>
            <a:srgbClr val="0077B6">
              <a:alpha val="85000"/>
            </a:srgbClr>
          </a:solidFill>
          <a:ln/>
        </p:spPr>
      </p:sp>
      <p:pic>
        <p:nvPicPr>
          <p:cNvPr id="14" name="Image 2" descr="/sessions/determined-amazing-franklin/assets/plug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541" y="190378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974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協議</a:t>
            </a:r>
            <a:endParaRPr lang="en-US" sz="1300" dirty="0"/>
          </a:p>
        </p:txBody>
      </p:sp>
      <p:pic>
        <p:nvPicPr>
          <p:cNvPr id="16" name="Image 3" descr="/sessions/determined-amazing-franklin/assets/arrow-right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011680"/>
            <a:ext cx="320040" cy="3200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120640" y="1645920"/>
            <a:ext cx="1828800" cy="10972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120640" y="164592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Shape 13"/>
          <p:cNvSpPr/>
          <p:nvPr/>
        </p:nvSpPr>
        <p:spPr>
          <a:xfrm>
            <a:off x="5715000" y="1783080"/>
            <a:ext cx="548640" cy="548640"/>
          </a:xfrm>
          <a:prstGeom prst="ellipse">
            <a:avLst/>
          </a:prstGeom>
          <a:solidFill>
            <a:srgbClr val="0891B2">
              <a:alpha val="85000"/>
            </a:srgbClr>
          </a:solidFill>
          <a:ln/>
        </p:spPr>
      </p:sp>
      <p:pic>
        <p:nvPicPr>
          <p:cNvPr id="20" name="Image 4" descr="/sessions/determined-amazing-franklin/assets/server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701" y="1903781"/>
            <a:ext cx="307238" cy="30723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2064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300" dirty="0"/>
          </a:p>
        </p:txBody>
      </p:sp>
      <p:pic>
        <p:nvPicPr>
          <p:cNvPr id="22" name="Image 5" descr="/sessions/determined-amazing-franklin/assets/arrow-right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2011680"/>
            <a:ext cx="320040" cy="32004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543800" y="1645920"/>
            <a:ext cx="1371600" cy="10972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7543800" y="164592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17"/>
          <p:cNvSpPr/>
          <p:nvPr/>
        </p:nvSpPr>
        <p:spPr>
          <a:xfrm>
            <a:off x="7863840" y="1783080"/>
            <a:ext cx="548640" cy="548640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pic>
        <p:nvPicPr>
          <p:cNvPr id="26" name="Image 6" descr="/sessions/determined-amazing-franklin/assets/chip-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4541" y="1903781"/>
            <a:ext cx="307238" cy="30723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54380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硬體/資料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1B2838"/>
          </a:solidFill>
          <a:ln/>
        </p:spPr>
      </p:sp>
      <p:pic>
        <p:nvPicPr>
          <p:cNvPr id="29" name="Image 7" descr="/sessions/determined-amazing-franklin/assets/file-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337560"/>
            <a:ext cx="320040" cy="32004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097280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over stdio</a:t>
            </a:r>
            <a:endParaRPr lang="en-US" sz="1300" dirty="0"/>
          </a:p>
        </p:txBody>
      </p:sp>
      <p:sp>
        <p:nvSpPr>
          <p:cNvPr id="31" name="Text 21"/>
          <p:cNvSpPr/>
          <p:nvPr/>
        </p:nvSpPr>
        <p:spPr>
          <a:xfrm>
            <a:off x="109728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標準化通訊協議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3383280" y="3200400"/>
            <a:ext cx="2651760" cy="1188720"/>
          </a:xfrm>
          <a:prstGeom prst="rect">
            <a:avLst/>
          </a:prstGeom>
          <a:solidFill>
            <a:srgbClr val="1B2838"/>
          </a:solidFill>
          <a:ln/>
        </p:spPr>
      </p:sp>
      <p:pic>
        <p:nvPicPr>
          <p:cNvPr id="33" name="Image 8" descr="/sessions/determined-amazing-franklin/assets/tools-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6160" y="3337560"/>
            <a:ext cx="320040" cy="32004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023360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Resources</a:t>
            </a:r>
            <a:endParaRPr lang="en-US" sz="1300" dirty="0"/>
          </a:p>
        </p:txBody>
      </p:sp>
      <p:sp>
        <p:nvSpPr>
          <p:cNvPr id="35" name="Text 24"/>
          <p:cNvSpPr/>
          <p:nvPr/>
        </p:nvSpPr>
        <p:spPr>
          <a:xfrm>
            <a:off x="402336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 AI 可用的工具</a:t>
            </a:r>
            <a:endParaRPr lang="en-US" sz="1000" dirty="0"/>
          </a:p>
        </p:txBody>
      </p:sp>
      <p:sp>
        <p:nvSpPr>
          <p:cNvPr id="36" name="Shape 25"/>
          <p:cNvSpPr/>
          <p:nvPr/>
        </p:nvSpPr>
        <p:spPr>
          <a:xfrm>
            <a:off x="6309360" y="3200400"/>
            <a:ext cx="2651760" cy="1188720"/>
          </a:xfrm>
          <a:prstGeom prst="rect">
            <a:avLst/>
          </a:prstGeom>
          <a:solidFill>
            <a:srgbClr val="1B2838"/>
          </a:solidFill>
          <a:ln/>
        </p:spPr>
      </p:sp>
      <p:pic>
        <p:nvPicPr>
          <p:cNvPr id="37" name="Image 9" descr="/sessions/determined-amazing-franklin/assets/cogs-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3337560"/>
            <a:ext cx="320040" cy="32004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949440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零配置整合</a:t>
            </a:r>
            <a:endParaRPr lang="en-US" sz="1300" dirty="0"/>
          </a:p>
        </p:txBody>
      </p:sp>
      <p:sp>
        <p:nvSpPr>
          <p:cNvPr id="39" name="Text 27"/>
          <p:cNvSpPr/>
          <p:nvPr/>
        </p:nvSpPr>
        <p:spPr>
          <a:xfrm>
            <a:off x="694944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安裝即用，自動發現</a:t>
            </a:r>
            <a:endParaRPr lang="en-US" sz="1000" dirty="0"/>
          </a:p>
        </p:txBody>
      </p:sp>
      <p:sp>
        <p:nvSpPr>
          <p:cNvPr id="40" name="Shape 2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1" name="Text 29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Mini MCP Server — POC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AMB82 Mini + MCP Server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8288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AI 直接操控嵌入式開發板 — 從搜尋文件到燒錄韌體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54864" cy="3108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73736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查找資料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2331720" cy="50292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774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「AMB82 怎麼用 BLE？」</a:t>
            </a:r>
            <a:endParaRPr lang="en-US" sz="1100" dirty="0"/>
          </a:p>
        </p:txBody>
      </p:sp>
      <p:pic>
        <p:nvPicPr>
          <p:cNvPr id="12" name="Image 0" descr="/sessions/determined-amazing-franklin/assets/arrow-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971800"/>
            <a:ext cx="274320" cy="2743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188720" y="3429000"/>
            <a:ext cx="594360" cy="594360"/>
          </a:xfrm>
          <a:prstGeom prst="ellipse">
            <a:avLst/>
          </a:prstGeom>
          <a:solidFill>
            <a:srgbClr val="E0F7FA">
              <a:alpha val="85000"/>
            </a:srgbClr>
          </a:solidFill>
          <a:ln/>
        </p:spPr>
      </p:sp>
      <p:pic>
        <p:nvPicPr>
          <p:cNvPr id="14" name="Image 1" descr="/sessions/determined-amazing-franklin/asset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479" y="355975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20240" y="3429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語意搜尋 3,500+ 文件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回傳最佳教學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91840" y="155448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91840" y="1554480"/>
            <a:ext cx="54864" cy="31089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8" name="Shape 14"/>
          <p:cNvSpPr/>
          <p:nvPr/>
        </p:nvSpPr>
        <p:spPr>
          <a:xfrm>
            <a:off x="3520440" y="1737360"/>
            <a:ext cx="411480" cy="41148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9" name="Text 15"/>
          <p:cNvSpPr/>
          <p:nvPr/>
        </p:nvSpPr>
        <p:spPr>
          <a:xfrm>
            <a:off x="352044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06908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開發流程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3474720" y="2377440"/>
            <a:ext cx="2331720" cy="50292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2" name="Text 18"/>
          <p:cNvSpPr/>
          <p:nvPr/>
        </p:nvSpPr>
        <p:spPr>
          <a:xfrm>
            <a:off x="3566160" y="23774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「幫我編譯上傳」</a:t>
            </a:r>
            <a:endParaRPr lang="en-US" sz="1100" dirty="0"/>
          </a:p>
        </p:txBody>
      </p:sp>
      <p:pic>
        <p:nvPicPr>
          <p:cNvPr id="23" name="Image 2" descr="/sessions/determined-amazing-franklin/assets/arrow-d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971800"/>
            <a:ext cx="274320" cy="27432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4114800" y="3429000"/>
            <a:ext cx="594360" cy="594360"/>
          </a:xfrm>
          <a:prstGeom prst="ellipse">
            <a:avLst/>
          </a:prstGeom>
          <a:solidFill>
            <a:srgbClr val="E0F7FA">
              <a:alpha val="85000"/>
            </a:srgbClr>
          </a:solidFill>
          <a:ln/>
        </p:spPr>
      </p:sp>
      <p:pic>
        <p:nvPicPr>
          <p:cNvPr id="25" name="Image 3" descr="/sessions/determined-amazing-franklin/assets/up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559" y="3559759"/>
            <a:ext cx="332842" cy="33284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846320" y="3429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自動偵測板子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編譯 → 上傳韌體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217920" y="155448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217920" y="1554480"/>
            <a:ext cx="54864" cy="3108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Shape 23"/>
          <p:cNvSpPr/>
          <p:nvPr/>
        </p:nvSpPr>
        <p:spPr>
          <a:xfrm>
            <a:off x="6446520" y="173736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4"/>
          <p:cNvSpPr/>
          <p:nvPr/>
        </p:nvSpPr>
        <p:spPr>
          <a:xfrm>
            <a:off x="644652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699516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環境設定</a:t>
            </a:r>
            <a:endParaRPr lang="en-US" sz="1700" dirty="0"/>
          </a:p>
        </p:txBody>
      </p:sp>
      <p:sp>
        <p:nvSpPr>
          <p:cNvPr id="32" name="Shape 26"/>
          <p:cNvSpPr/>
          <p:nvPr/>
        </p:nvSpPr>
        <p:spPr>
          <a:xfrm>
            <a:off x="6400800" y="2377440"/>
            <a:ext cx="2331720" cy="50292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33" name="Text 27"/>
          <p:cNvSpPr/>
          <p:nvPr/>
        </p:nvSpPr>
        <p:spPr>
          <a:xfrm>
            <a:off x="6492240" y="23774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「新電腦什麼都沒裝」</a:t>
            </a:r>
            <a:endParaRPr lang="en-US" sz="1100" dirty="0"/>
          </a:p>
        </p:txBody>
      </p:sp>
      <p:pic>
        <p:nvPicPr>
          <p:cNvPr id="34" name="Image 4" descr="/sessions/determined-amazing-franklin/assets/arrow-dow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2971800"/>
            <a:ext cx="274320" cy="27432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7040880" y="3429000"/>
            <a:ext cx="594360" cy="594360"/>
          </a:xfrm>
          <a:prstGeom prst="ellipse">
            <a:avLst/>
          </a:prstGeom>
          <a:solidFill>
            <a:srgbClr val="E0F7FA">
              <a:alpha val="85000"/>
            </a:srgbClr>
          </a:solidFill>
          <a:ln/>
        </p:spPr>
      </p:sp>
      <p:pic>
        <p:nvPicPr>
          <p:cNvPr id="36" name="Image 5" descr="/sessions/determined-amazing-franklin/assets/tool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1639" y="3559759"/>
            <a:ext cx="332842" cy="33284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772400" y="3429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一鍵安裝所有工具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arduino-cli + ARM GCC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9" name="Text 31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Mini MCP Server — POC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專案概覽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15544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00B4D8">
              <a:alpha val="85000"/>
            </a:srgbClr>
          </a:solidFill>
          <a:ln/>
        </p:spPr>
      </p:sp>
      <p:pic>
        <p:nvPicPr>
          <p:cNvPr id="7" name="Image 0" descr="/sessions/determined-amazing-franklin/assets/tools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47218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114300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工具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188720"/>
            <a:ext cx="2651760" cy="15544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188720"/>
            <a:ext cx="265176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2" name="Shape 9"/>
          <p:cNvSpPr/>
          <p:nvPr/>
        </p:nvSpPr>
        <p:spPr>
          <a:xfrm>
            <a:off x="3429000" y="1371600"/>
            <a:ext cx="457200" cy="457200"/>
          </a:xfrm>
          <a:prstGeom prst="ellipse">
            <a:avLst/>
          </a:prstGeom>
          <a:solidFill>
            <a:srgbClr val="0077B6">
              <a:alpha val="85000"/>
            </a:srgbClr>
          </a:solidFill>
          <a:ln/>
        </p:spPr>
      </p:sp>
      <p:pic>
        <p:nvPicPr>
          <p:cNvPr id="13" name="Image 1" descr="/sessions/determined-amazing-franklin/assets/fil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47218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2336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3,530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402336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索引文件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1188720"/>
            <a:ext cx="2651760" cy="15544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188720"/>
            <a:ext cx="265176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Shape 14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rgbClr val="0891B2">
              <a:alpha val="85000"/>
            </a:srgbClr>
          </a:solidFill>
          <a:ln/>
        </p:spPr>
      </p:sp>
      <p:pic>
        <p:nvPicPr>
          <p:cNvPr id="19" name="Image 2" descr="/sessions/determined-amazing-franklin/assets/databas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47218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0372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13,078</a:t>
            </a:r>
            <a:endParaRPr lang="en-US" sz="3200" dirty="0"/>
          </a:p>
        </p:txBody>
      </p:sp>
      <p:sp>
        <p:nvSpPr>
          <p:cNvPr id="21" name="Text 16"/>
          <p:cNvSpPr/>
          <p:nvPr/>
        </p:nvSpPr>
        <p:spPr>
          <a:xfrm>
            <a:off x="690372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搜尋 Chunks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65760" y="3017520"/>
            <a:ext cx="2651760" cy="15544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5760" y="3017520"/>
            <a:ext cx="26517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19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10B981">
              <a:alpha val="85000"/>
            </a:srgbClr>
          </a:solidFill>
          <a:ln/>
        </p:spPr>
      </p:sp>
      <p:pic>
        <p:nvPicPr>
          <p:cNvPr id="25" name="Image 3" descr="/sessions/determined-amazing-franklin/assets/check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30098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43000" y="3154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3200" dirty="0"/>
          </a:p>
        </p:txBody>
      </p:sp>
      <p:sp>
        <p:nvSpPr>
          <p:cNvPr id="27" name="Text 21"/>
          <p:cNvSpPr/>
          <p:nvPr/>
        </p:nvSpPr>
        <p:spPr>
          <a:xfrm>
            <a:off x="1143000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自動化測試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3246120" y="3017520"/>
            <a:ext cx="2651760" cy="15544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46120" y="3017520"/>
            <a:ext cx="265176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Shape 24"/>
          <p:cNvSpPr/>
          <p:nvPr/>
        </p:nvSpPr>
        <p:spPr>
          <a:xfrm>
            <a:off x="3429000" y="3200400"/>
            <a:ext cx="457200" cy="45720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pic>
        <p:nvPicPr>
          <p:cNvPr id="31" name="Image 4" descr="/sessions/determined-amazing-franklin/assets/code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584" y="3300984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023360" y="3154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1,992</a:t>
            </a:r>
            <a:endParaRPr lang="en-US" sz="3200" dirty="0"/>
          </a:p>
        </p:txBody>
      </p:sp>
      <p:sp>
        <p:nvSpPr>
          <p:cNvPr id="33" name="Text 26"/>
          <p:cNvSpPr/>
          <p:nvPr/>
        </p:nvSpPr>
        <p:spPr>
          <a:xfrm>
            <a:off x="4023360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 Python 程式碼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126480" y="3017520"/>
            <a:ext cx="2651760" cy="15544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26480" y="3017520"/>
            <a:ext cx="2651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29"/>
          <p:cNvSpPr/>
          <p:nvPr/>
        </p:nvSpPr>
        <p:spPr>
          <a:xfrm>
            <a:off x="6309360" y="3200400"/>
            <a:ext cx="457200" cy="457200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pic>
        <p:nvPicPr>
          <p:cNvPr id="37" name="Image 5" descr="/sessions/determined-amazing-franklin/assets/cubes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3300984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903720" y="3154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 KB</a:t>
            </a:r>
            <a:endParaRPr lang="en-US" sz="3200" dirty="0"/>
          </a:p>
        </p:txBody>
      </p:sp>
      <p:sp>
        <p:nvSpPr>
          <p:cNvPr id="39" name="Text 31"/>
          <p:cNvSpPr/>
          <p:nvPr/>
        </p:nvSpPr>
        <p:spPr>
          <a:xfrm>
            <a:off x="6903720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套件大小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1" name="Text 3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Mini MCP Server — POC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系統架構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097280"/>
            <a:ext cx="6400800" cy="64008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sessions/determined-amazing-franklin/assets/brain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1887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097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Assistant（Claude Code / Cursor）</a:t>
            </a:r>
            <a:endParaRPr lang="en-US" sz="1500" dirty="0"/>
          </a:p>
        </p:txBody>
      </p:sp>
      <p:pic>
        <p:nvPicPr>
          <p:cNvPr id="7" name="Image 1" descr="/sessions/determined-amazing-franklin/assets/arrow-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830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4632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/ stdio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914400" y="2286000"/>
            <a:ext cx="7315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914400" y="2286000"/>
            <a:ext cx="7315200" cy="36576"/>
          </a:xfrm>
          <a:prstGeom prst="rect">
            <a:avLst/>
          </a:prstGeom>
          <a:solidFill>
            <a:srgbClr val="0077B6"/>
          </a:solidFill>
          <a:ln/>
        </p:spPr>
      </p:sp>
      <p:pic>
        <p:nvPicPr>
          <p:cNvPr id="11" name="Image 2" descr="/sessions/determined-amazing-franklin/asset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3774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amb82_mcp Server（10 個 MCP Tools）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1188720" y="2834640"/>
            <a:ext cx="2011680" cy="77724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4" name="Shape 9"/>
          <p:cNvSpPr/>
          <p:nvPr/>
        </p:nvSpPr>
        <p:spPr>
          <a:xfrm>
            <a:off x="1188720" y="2834640"/>
            <a:ext cx="45720" cy="77724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5" name="Image 3" descr="/sessions/determined-amazing-franklin/asset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01752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37360" y="290779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文件搜尋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1-3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3566160" y="2834640"/>
            <a:ext cx="2011680" cy="77724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8" name="Shape 12"/>
          <p:cNvSpPr/>
          <p:nvPr/>
        </p:nvSpPr>
        <p:spPr>
          <a:xfrm>
            <a:off x="3566160" y="2834640"/>
            <a:ext cx="45720" cy="7772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9" name="Image 4" descr="/sessions/determined-amazing-franklin/assets/co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301752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114800" y="290779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環境管理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4-5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943600" y="2834640"/>
            <a:ext cx="2011680" cy="77724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2" name="Shape 15"/>
          <p:cNvSpPr/>
          <p:nvPr/>
        </p:nvSpPr>
        <p:spPr>
          <a:xfrm>
            <a:off x="5943600" y="2834640"/>
            <a:ext cx="45720" cy="777240"/>
          </a:xfrm>
          <a:prstGeom prst="rect">
            <a:avLst/>
          </a:prstGeom>
          <a:solidFill>
            <a:srgbClr val="0077B6"/>
          </a:solidFill>
          <a:ln/>
        </p:spPr>
      </p:sp>
      <p:pic>
        <p:nvPicPr>
          <p:cNvPr id="23" name="Image 5" descr="/sessions/determined-amazing-franklin/assets/uplo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3017520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492240" y="290779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編譯 &amp; 上傳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6-10</a:t>
            </a:r>
            <a:endParaRPr lang="en-US" sz="1000" dirty="0"/>
          </a:p>
        </p:txBody>
      </p:sp>
      <p:pic>
        <p:nvPicPr>
          <p:cNvPr id="25" name="Image 6" descr="/sessions/determined-amazing-franklin/assets/arrow-dow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3794760"/>
            <a:ext cx="320040" cy="32004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914400" y="4160520"/>
            <a:ext cx="21945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914400" y="4160520"/>
            <a:ext cx="45720" cy="77724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8" name="Image 7" descr="/sessions/determined-amazing-franklin/assets/databa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" y="4297680"/>
            <a:ext cx="320040" cy="32004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463040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索引 + ONNX</a:t>
            </a:r>
            <a:endParaRPr lang="en-US" sz="1000" dirty="0"/>
          </a:p>
        </p:txBody>
      </p:sp>
      <p:sp>
        <p:nvSpPr>
          <p:cNvPr id="30" name="Text 20"/>
          <p:cNvSpPr/>
          <p:nvPr/>
        </p:nvSpPr>
        <p:spPr>
          <a:xfrm>
            <a:off x="1463040" y="46634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~/.amb82-mcp/</a:t>
            </a:r>
            <a:endParaRPr lang="en-US" sz="800" dirty="0"/>
          </a:p>
        </p:txBody>
      </p:sp>
      <p:sp>
        <p:nvSpPr>
          <p:cNvPr id="31" name="Shape 21"/>
          <p:cNvSpPr/>
          <p:nvPr/>
        </p:nvSpPr>
        <p:spPr>
          <a:xfrm>
            <a:off x="3474720" y="4160520"/>
            <a:ext cx="21945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3474720" y="4160520"/>
            <a:ext cx="45720" cy="7772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3" name="Image 8" descr="/sessions/determined-amazing-franklin/assets/tool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1880" y="4297680"/>
            <a:ext cx="320040" cy="32004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023360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arduino-cli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 / gcc</a:t>
            </a:r>
            <a:endParaRPr lang="en-US" sz="1000" dirty="0"/>
          </a:p>
        </p:txBody>
      </p:sp>
      <p:sp>
        <p:nvSpPr>
          <p:cNvPr id="35" name="Text 24"/>
          <p:cNvSpPr/>
          <p:nvPr/>
        </p:nvSpPr>
        <p:spPr>
          <a:xfrm>
            <a:off x="4023360" y="46634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系統工具</a:t>
            </a:r>
            <a:endParaRPr lang="en-US" sz="800" dirty="0"/>
          </a:p>
        </p:txBody>
      </p:sp>
      <p:sp>
        <p:nvSpPr>
          <p:cNvPr id="36" name="Shape 25"/>
          <p:cNvSpPr/>
          <p:nvPr/>
        </p:nvSpPr>
        <p:spPr>
          <a:xfrm>
            <a:off x="6035040" y="4160520"/>
            <a:ext cx="21945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26"/>
          <p:cNvSpPr/>
          <p:nvPr/>
        </p:nvSpPr>
        <p:spPr>
          <a:xfrm>
            <a:off x="6035040" y="4160520"/>
            <a:ext cx="45720" cy="7772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8" name="Image 9" descr="/sessions/determined-amazing-franklin/assets/chip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4297680"/>
            <a:ext cx="320040" cy="32004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583680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Mini</a:t>
            </a:r>
            <a:endParaRPr lang="en-US" sz="1000" dirty="0"/>
          </a:p>
        </p:txBody>
      </p:sp>
      <p:sp>
        <p:nvSpPr>
          <p:cNvPr id="40" name="Text 28"/>
          <p:cNvSpPr/>
          <p:nvPr/>
        </p:nvSpPr>
        <p:spPr>
          <a:xfrm>
            <a:off x="6583680" y="46634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連接</a:t>
            </a:r>
            <a:endParaRPr lang="en-US" sz="800" dirty="0"/>
          </a:p>
        </p:txBody>
      </p:sp>
      <p:sp>
        <p:nvSpPr>
          <p:cNvPr id="41" name="Shape 2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2" name="Text 30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Mini MCP Server — POC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個 MCP 工具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6576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00B4D8">
              <a:alpha val="85000"/>
            </a:srgbClr>
          </a:solidFill>
          <a:ln/>
        </p:spPr>
      </p:sp>
      <p:pic>
        <p:nvPicPr>
          <p:cNvPr id="7" name="Image 0" descr="/sessions/determined-amazing-franklin/assets/search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42" y="1299362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文件搜尋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2377440" cy="502920"/>
          </a:xfrm>
          <a:prstGeom prst="rect">
            <a:avLst/>
          </a:prstGeom>
          <a:solidFill>
            <a:srgbClr val="0F2136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9385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search_docs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語意搜尋文件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2560320"/>
            <a:ext cx="2377440" cy="502920"/>
          </a:xfrm>
          <a:prstGeom prst="rect">
            <a:avLst/>
          </a:prstGeom>
          <a:solidFill>
            <a:srgbClr val="0F2136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578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list_examples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28163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列出範例程式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3200400"/>
            <a:ext cx="2377440" cy="502920"/>
          </a:xfrm>
          <a:prstGeom prst="rect">
            <a:avLst/>
          </a:prstGeom>
          <a:solidFill>
            <a:srgbClr val="0F2136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218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read_doc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34564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讀取文件全文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46120" y="1005840"/>
            <a:ext cx="2743200" cy="36576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46120" y="100584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7"/>
          <p:cNvSpPr/>
          <p:nvPr/>
        </p:nvSpPr>
        <p:spPr>
          <a:xfrm>
            <a:off x="3429000" y="1188720"/>
            <a:ext cx="502920" cy="502920"/>
          </a:xfrm>
          <a:prstGeom prst="ellipse">
            <a:avLst/>
          </a:prstGeom>
          <a:solidFill>
            <a:srgbClr val="0891B2">
              <a:alpha val="85000"/>
            </a:srgbClr>
          </a:solidFill>
          <a:ln/>
        </p:spPr>
      </p:sp>
      <p:pic>
        <p:nvPicPr>
          <p:cNvPr id="21" name="Image 1" descr="/sessions/determined-amazing-franklin/assets/cogs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642" y="1299362"/>
            <a:ext cx="281635" cy="28163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06908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 &amp; 硬體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3429000" y="1920240"/>
            <a:ext cx="2377440" cy="502920"/>
          </a:xfrm>
          <a:prstGeom prst="rect">
            <a:avLst/>
          </a:prstGeom>
          <a:solidFill>
            <a:srgbClr val="0F2136"/>
          </a:solidFill>
          <a:ln/>
        </p:spPr>
      </p:sp>
      <p:sp>
        <p:nvSpPr>
          <p:cNvPr id="24" name="Text 20"/>
          <p:cNvSpPr/>
          <p:nvPr/>
        </p:nvSpPr>
        <p:spPr>
          <a:xfrm>
            <a:off x="3520440" y="19385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check_environment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520440" y="21762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檢查開發工具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429000" y="2560320"/>
            <a:ext cx="2377440" cy="502920"/>
          </a:xfrm>
          <a:prstGeom prst="rect">
            <a:avLst/>
          </a:prstGeom>
          <a:solidFill>
            <a:srgbClr val="0F2136"/>
          </a:solidFill>
          <a:ln/>
        </p:spPr>
      </p:sp>
      <p:sp>
        <p:nvSpPr>
          <p:cNvPr id="27" name="Text 23"/>
          <p:cNvSpPr/>
          <p:nvPr/>
        </p:nvSpPr>
        <p:spPr>
          <a:xfrm>
            <a:off x="3520440" y="2578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setup_environment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3520440" y="28163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自動安裝環境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429000" y="3200400"/>
            <a:ext cx="2377440" cy="502920"/>
          </a:xfrm>
          <a:prstGeom prst="rect">
            <a:avLst/>
          </a:prstGeom>
          <a:solidFill>
            <a:srgbClr val="0F2136"/>
          </a:solidFill>
          <a:ln/>
        </p:spPr>
      </p:sp>
      <p:sp>
        <p:nvSpPr>
          <p:cNvPr id="30" name="Text 26"/>
          <p:cNvSpPr/>
          <p:nvPr/>
        </p:nvSpPr>
        <p:spPr>
          <a:xfrm>
            <a:off x="3520440" y="3218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detect_board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3520440" y="34564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 USB 板子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3429000" y="3840480"/>
            <a:ext cx="2377440" cy="502920"/>
          </a:xfrm>
          <a:prstGeom prst="rect">
            <a:avLst/>
          </a:prstGeom>
          <a:solidFill>
            <a:srgbClr val="0F2136"/>
          </a:solidFill>
          <a:ln/>
        </p:spPr>
      </p:sp>
      <p:sp>
        <p:nvSpPr>
          <p:cNvPr id="33" name="Text 29"/>
          <p:cNvSpPr/>
          <p:nvPr/>
        </p:nvSpPr>
        <p:spPr>
          <a:xfrm>
            <a:off x="3520440" y="3858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serial_monitor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3520440" y="4096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 Serial 輸出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217920" y="1005840"/>
            <a:ext cx="2743200" cy="36576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217920" y="1005840"/>
            <a:ext cx="274320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7" name="Shape 33"/>
          <p:cNvSpPr/>
          <p:nvPr/>
        </p:nvSpPr>
        <p:spPr>
          <a:xfrm>
            <a:off x="6400800" y="1188720"/>
            <a:ext cx="502920" cy="502920"/>
          </a:xfrm>
          <a:prstGeom prst="ellipse">
            <a:avLst/>
          </a:prstGeom>
          <a:solidFill>
            <a:srgbClr val="0077B6">
              <a:alpha val="85000"/>
            </a:srgbClr>
          </a:solidFill>
          <a:ln/>
        </p:spPr>
      </p:sp>
      <p:pic>
        <p:nvPicPr>
          <p:cNvPr id="38" name="Image 2" descr="/sessions/determined-amazing-franklin/assets/up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442" y="1299362"/>
            <a:ext cx="281635" cy="281635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704088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編譯 &amp; 上傳</a:t>
            </a:r>
            <a:endParaRPr lang="en-US" sz="1600" dirty="0"/>
          </a:p>
        </p:txBody>
      </p:sp>
      <p:sp>
        <p:nvSpPr>
          <p:cNvPr id="40" name="Shape 35"/>
          <p:cNvSpPr/>
          <p:nvPr/>
        </p:nvSpPr>
        <p:spPr>
          <a:xfrm>
            <a:off x="6400800" y="1920240"/>
            <a:ext cx="2377440" cy="502920"/>
          </a:xfrm>
          <a:prstGeom prst="rect">
            <a:avLst/>
          </a:prstGeom>
          <a:solidFill>
            <a:srgbClr val="0F2136"/>
          </a:solidFill>
          <a:ln/>
        </p:spPr>
      </p:sp>
      <p:sp>
        <p:nvSpPr>
          <p:cNvPr id="41" name="Text 36"/>
          <p:cNvSpPr/>
          <p:nvPr/>
        </p:nvSpPr>
        <p:spPr>
          <a:xfrm>
            <a:off x="6492240" y="19385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6492240" y="21762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編譯 Arduino/RTOS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6400800" y="2560320"/>
            <a:ext cx="2377440" cy="502920"/>
          </a:xfrm>
          <a:prstGeom prst="rect">
            <a:avLst/>
          </a:prstGeom>
          <a:solidFill>
            <a:srgbClr val="0F2136"/>
          </a:solidFill>
          <a:ln/>
        </p:spPr>
      </p:sp>
      <p:sp>
        <p:nvSpPr>
          <p:cNvPr id="44" name="Text 39"/>
          <p:cNvSpPr/>
          <p:nvPr/>
        </p:nvSpPr>
        <p:spPr>
          <a:xfrm>
            <a:off x="6492240" y="2578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6492240" y="28163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上傳韌體到板子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6400800" y="3200400"/>
            <a:ext cx="2377440" cy="502920"/>
          </a:xfrm>
          <a:prstGeom prst="rect">
            <a:avLst/>
          </a:prstGeom>
          <a:solidFill>
            <a:srgbClr val="0F2136"/>
          </a:solidFill>
          <a:ln/>
        </p:spPr>
      </p:sp>
      <p:sp>
        <p:nvSpPr>
          <p:cNvPr id="47" name="Text 42"/>
          <p:cNvSpPr/>
          <p:nvPr/>
        </p:nvSpPr>
        <p:spPr>
          <a:xfrm>
            <a:off x="6492240" y="3218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fetch_source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6492240" y="34564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GitHub 取原始碼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0" name="Text 45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Mini MCP Server — POC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語意搜尋引擎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371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+ numpy — 離線、輕量、快速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554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15544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rgbClr val="E0F7FA">
              <a:alpha val="85000"/>
            </a:srgbClr>
          </a:solidFill>
          <a:ln/>
        </p:spPr>
      </p:sp>
      <p:pic>
        <p:nvPicPr>
          <p:cNvPr id="8" name="Image 0" descr="/sessions/determined-amazing-franklin/asset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76662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使用者輸入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查詢問題</a:t>
            </a:r>
            <a:endParaRPr lang="en-US" sz="900" dirty="0"/>
          </a:p>
        </p:txBody>
      </p:sp>
      <p:pic>
        <p:nvPicPr>
          <p:cNvPr id="11" name="Image 1" descr="/sessions/determined-amazing-franklin/assets/arrow-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2194560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057400" y="1463040"/>
            <a:ext cx="1554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057400" y="1463040"/>
            <a:ext cx="155448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Shape 10"/>
          <p:cNvSpPr/>
          <p:nvPr/>
        </p:nvSpPr>
        <p:spPr>
          <a:xfrm>
            <a:off x="2468880" y="1645920"/>
            <a:ext cx="548640" cy="548640"/>
          </a:xfrm>
          <a:prstGeom prst="ellipse">
            <a:avLst/>
          </a:prstGeom>
          <a:solidFill>
            <a:srgbClr val="E0F7FA">
              <a:alpha val="85000"/>
            </a:srgbClr>
          </a:solidFill>
          <a:ln/>
        </p:spPr>
      </p:sp>
      <p:pic>
        <p:nvPicPr>
          <p:cNvPr id="15" name="Image 2" descr="/sessions/determined-amazing-franklin/asset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581" y="17666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4884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編碼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2148840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維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900" dirty="0"/>
          </a:p>
        </p:txBody>
      </p:sp>
      <p:pic>
        <p:nvPicPr>
          <p:cNvPr id="18" name="Image 3" descr="/sessions/determined-amazing-franklin/assets/arrow-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194560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840480" y="1463040"/>
            <a:ext cx="1554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3840480" y="1463040"/>
            <a:ext cx="1554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Shape 15"/>
          <p:cNvSpPr/>
          <p:nvPr/>
        </p:nvSpPr>
        <p:spPr>
          <a:xfrm>
            <a:off x="4251960" y="1645920"/>
            <a:ext cx="548640" cy="548640"/>
          </a:xfrm>
          <a:prstGeom prst="ellipse">
            <a:avLst/>
          </a:prstGeom>
          <a:solidFill>
            <a:srgbClr val="E0F7FA">
              <a:alpha val="85000"/>
            </a:srgbClr>
          </a:solidFill>
          <a:ln/>
        </p:spPr>
      </p:sp>
      <p:pic>
        <p:nvPicPr>
          <p:cNvPr id="22" name="Image 4" descr="/sessions/determined-amazing-franklin/asset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2661" y="1766621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3192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931920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 13,078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 chunks</a:t>
            </a:r>
            <a:endParaRPr lang="en-US" sz="900" dirty="0"/>
          </a:p>
        </p:txBody>
      </p:sp>
      <p:pic>
        <p:nvPicPr>
          <p:cNvPr id="25" name="Image 5" descr="/sessions/determined-amazing-franklin/assets/arrow-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194560"/>
            <a:ext cx="182880" cy="18288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5623560" y="1463040"/>
            <a:ext cx="1554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23560" y="1463040"/>
            <a:ext cx="15544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0"/>
          <p:cNvSpPr/>
          <p:nvPr/>
        </p:nvSpPr>
        <p:spPr>
          <a:xfrm>
            <a:off x="6035040" y="1645920"/>
            <a:ext cx="548640" cy="548640"/>
          </a:xfrm>
          <a:prstGeom prst="ellipse">
            <a:avLst/>
          </a:prstGeom>
          <a:solidFill>
            <a:srgbClr val="E0F7FA">
              <a:alpha val="85000"/>
            </a:srgbClr>
          </a:solidFill>
          <a:ln/>
        </p:spPr>
      </p:sp>
      <p:pic>
        <p:nvPicPr>
          <p:cNvPr id="29" name="Image 6" descr="/sessions/determined-amazing-franklin/assets/cha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5741" y="1766621"/>
            <a:ext cx="307238" cy="30723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71500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5715000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文件類型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加權排序</a:t>
            </a:r>
            <a:endParaRPr lang="en-US" sz="900" dirty="0"/>
          </a:p>
        </p:txBody>
      </p:sp>
      <p:pic>
        <p:nvPicPr>
          <p:cNvPr id="32" name="Image 7" descr="/sessions/determined-amazing-franklin/assets/arrow-r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0" y="2194560"/>
            <a:ext cx="182880" cy="18288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7406640" y="1463040"/>
            <a:ext cx="1554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7406640" y="1463040"/>
            <a:ext cx="15544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Shape 25"/>
          <p:cNvSpPr/>
          <p:nvPr/>
        </p:nvSpPr>
        <p:spPr>
          <a:xfrm>
            <a:off x="7818120" y="1645920"/>
            <a:ext cx="548640" cy="548640"/>
          </a:xfrm>
          <a:prstGeom prst="ellipse">
            <a:avLst/>
          </a:prstGeom>
          <a:solidFill>
            <a:srgbClr val="E0F7FA">
              <a:alpha val="85000"/>
            </a:srgbClr>
          </a:solidFill>
          <a:ln/>
        </p:spPr>
      </p:sp>
      <p:pic>
        <p:nvPicPr>
          <p:cNvPr id="36" name="Image 8" descr="/sessions/determined-amazing-franklin/asset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8821" y="1766621"/>
            <a:ext cx="307238" cy="30723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49808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</a:t>
            </a:r>
            <a:endParaRPr lang="en-US" sz="1200" dirty="0"/>
          </a:p>
        </p:txBody>
      </p:sp>
      <p:sp>
        <p:nvSpPr>
          <p:cNvPr id="38" name="Text 27"/>
          <p:cNvSpPr/>
          <p:nvPr/>
        </p:nvSpPr>
        <p:spPr>
          <a:xfrm>
            <a:off x="7498080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去重後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回傳最佳</a:t>
            </a:r>
            <a:endParaRPr lang="en-US" sz="900" dirty="0"/>
          </a:p>
        </p:txBody>
      </p:sp>
      <p:sp>
        <p:nvSpPr>
          <p:cNvPr id="39" name="Shape 28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Text 29"/>
          <p:cNvSpPr/>
          <p:nvPr/>
        </p:nvSpPr>
        <p:spPr>
          <a:xfrm>
            <a:off x="64008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Boosting 加權</a:t>
            </a:r>
            <a:endParaRPr lang="en-US" sz="1200" dirty="0"/>
          </a:p>
        </p:txBody>
      </p:sp>
      <p:sp>
        <p:nvSpPr>
          <p:cNvPr id="41" name="Shape 30"/>
          <p:cNvSpPr/>
          <p:nvPr/>
        </p:nvSpPr>
        <p:spPr>
          <a:xfrm>
            <a:off x="640080" y="4023360"/>
            <a:ext cx="1371600" cy="54864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2" name="Shape 31"/>
          <p:cNvSpPr/>
          <p:nvPr/>
        </p:nvSpPr>
        <p:spPr>
          <a:xfrm>
            <a:off x="640080" y="4023360"/>
            <a:ext cx="36576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32"/>
          <p:cNvSpPr/>
          <p:nvPr/>
        </p:nvSpPr>
        <p:spPr>
          <a:xfrm>
            <a:off x="777240" y="4041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000" dirty="0"/>
          </a:p>
        </p:txBody>
      </p:sp>
      <p:sp>
        <p:nvSpPr>
          <p:cNvPr id="44" name="Text 33"/>
          <p:cNvSpPr/>
          <p:nvPr/>
        </p:nvSpPr>
        <p:spPr>
          <a:xfrm>
            <a:off x="777240" y="4297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x1.4</a:t>
            </a:r>
            <a:endParaRPr lang="en-US" sz="1400" dirty="0"/>
          </a:p>
        </p:txBody>
      </p:sp>
      <p:sp>
        <p:nvSpPr>
          <p:cNvPr id="45" name="Shape 34"/>
          <p:cNvSpPr/>
          <p:nvPr/>
        </p:nvSpPr>
        <p:spPr>
          <a:xfrm>
            <a:off x="2240280" y="4023360"/>
            <a:ext cx="1371600" cy="54864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6" name="Shape 35"/>
          <p:cNvSpPr/>
          <p:nvPr/>
        </p:nvSpPr>
        <p:spPr>
          <a:xfrm>
            <a:off x="2240280" y="4023360"/>
            <a:ext cx="36576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7" name="Text 36"/>
          <p:cNvSpPr/>
          <p:nvPr/>
        </p:nvSpPr>
        <p:spPr>
          <a:xfrm>
            <a:off x="2377440" y="4041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2377440" y="4297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x1.3</a:t>
            </a:r>
            <a:endParaRPr lang="en-US" sz="1400" dirty="0"/>
          </a:p>
        </p:txBody>
      </p:sp>
      <p:sp>
        <p:nvSpPr>
          <p:cNvPr id="49" name="Shape 38"/>
          <p:cNvSpPr/>
          <p:nvPr/>
        </p:nvSpPr>
        <p:spPr>
          <a:xfrm>
            <a:off x="3840480" y="4023360"/>
            <a:ext cx="1371600" cy="54864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50" name="Shape 39"/>
          <p:cNvSpPr/>
          <p:nvPr/>
        </p:nvSpPr>
        <p:spPr>
          <a:xfrm>
            <a:off x="3840480" y="4023360"/>
            <a:ext cx="36576" cy="5486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51" name="Text 40"/>
          <p:cNvSpPr/>
          <p:nvPr/>
        </p:nvSpPr>
        <p:spPr>
          <a:xfrm>
            <a:off x="3977640" y="4041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1000" dirty="0"/>
          </a:p>
        </p:txBody>
      </p:sp>
      <p:sp>
        <p:nvSpPr>
          <p:cNvPr id="52" name="Text 41"/>
          <p:cNvSpPr/>
          <p:nvPr/>
        </p:nvSpPr>
        <p:spPr>
          <a:xfrm>
            <a:off x="3977640" y="4297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x1.3</a:t>
            </a:r>
            <a:endParaRPr lang="en-US" sz="1400" dirty="0"/>
          </a:p>
        </p:txBody>
      </p:sp>
      <p:sp>
        <p:nvSpPr>
          <p:cNvPr id="53" name="Shape 42"/>
          <p:cNvSpPr/>
          <p:nvPr/>
        </p:nvSpPr>
        <p:spPr>
          <a:xfrm>
            <a:off x="5440680" y="4023360"/>
            <a:ext cx="1371600" cy="54864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54" name="Shape 43"/>
          <p:cNvSpPr/>
          <p:nvPr/>
        </p:nvSpPr>
        <p:spPr>
          <a:xfrm>
            <a:off x="5440680" y="4023360"/>
            <a:ext cx="36576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5" name="Text 44"/>
          <p:cNvSpPr/>
          <p:nvPr/>
        </p:nvSpPr>
        <p:spPr>
          <a:xfrm>
            <a:off x="5577840" y="4041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(.h)</a:t>
            </a:r>
            <a:endParaRPr lang="en-US" sz="1000" dirty="0"/>
          </a:p>
        </p:txBody>
      </p:sp>
      <p:sp>
        <p:nvSpPr>
          <p:cNvPr id="56" name="Text 45"/>
          <p:cNvSpPr/>
          <p:nvPr/>
        </p:nvSpPr>
        <p:spPr>
          <a:xfrm>
            <a:off x="5577840" y="4297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x0.85</a:t>
            </a:r>
            <a:endParaRPr lang="en-US" sz="1400" dirty="0"/>
          </a:p>
        </p:txBody>
      </p:sp>
      <p:sp>
        <p:nvSpPr>
          <p:cNvPr id="57" name="Shape 46"/>
          <p:cNvSpPr/>
          <p:nvPr/>
        </p:nvSpPr>
        <p:spPr>
          <a:xfrm>
            <a:off x="7040880" y="4023360"/>
            <a:ext cx="1371600" cy="54864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58" name="Shape 47"/>
          <p:cNvSpPr/>
          <p:nvPr/>
        </p:nvSpPr>
        <p:spPr>
          <a:xfrm>
            <a:off x="7040880" y="4023360"/>
            <a:ext cx="36576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9" name="Text 48"/>
          <p:cNvSpPr/>
          <p:nvPr/>
        </p:nvSpPr>
        <p:spPr>
          <a:xfrm>
            <a:off x="7178040" y="4041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(.c)</a:t>
            </a:r>
            <a:endParaRPr lang="en-US" sz="1000" dirty="0"/>
          </a:p>
        </p:txBody>
      </p:sp>
      <p:sp>
        <p:nvSpPr>
          <p:cNvPr id="60" name="Text 49"/>
          <p:cNvSpPr/>
          <p:nvPr/>
        </p:nvSpPr>
        <p:spPr>
          <a:xfrm>
            <a:off x="7178040" y="4297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x0.75</a:t>
            </a:r>
            <a:endParaRPr lang="en-US" sz="1400" dirty="0"/>
          </a:p>
        </p:txBody>
      </p:sp>
      <p:sp>
        <p:nvSpPr>
          <p:cNvPr id="61" name="Shape 5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2" name="Text 51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Mini MCP Server — POC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雙模式開發支援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自動偵測專案類型 — .ino → Arduino | CMakeLists.txt → FreeRTOS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32004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02336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模式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822960" cy="365760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編譯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arduino-cli compile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822960" cy="365760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97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上傳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arduino-cli upload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822960" cy="365760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91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FQBN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realtek:AmebaPro2:...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822960" cy="365760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86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4592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快速原型開發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4023360" cy="32004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371600"/>
            <a:ext cx="40233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SDK 模式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0" y="2103120"/>
            <a:ext cx="822960" cy="36576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1031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編譯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cmake + arm-gcc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2697480"/>
            <a:ext cx="822960" cy="36576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697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上傳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3504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uartfwburn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0" y="3291840"/>
            <a:ext cx="822960" cy="36576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291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3504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自動搜尋路徑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0" y="3886200"/>
            <a:ext cx="822960" cy="36576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886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350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底層系統開發</a:t>
            </a:r>
            <a:endParaRPr lang="en-US" sz="1200" dirty="0"/>
          </a:p>
        </p:txBody>
      </p:sp>
      <p:pic>
        <p:nvPicPr>
          <p:cNvPr id="35" name="Image 0" descr="/sessions/determined-amazing-franklin/asset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2560320"/>
            <a:ext cx="457200" cy="45720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Mini MCP Server — POC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索引資料與 ONNX 模型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個索引來源，共 3,530 文件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84632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846320" y="1097280"/>
            <a:ext cx="393192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0" y="1280160"/>
            <a:ext cx="502920" cy="502920"/>
          </a:xfrm>
          <a:prstGeom prst="ellipse">
            <a:avLst/>
          </a:prstGeom>
          <a:solidFill>
            <a:srgbClr val="E0F7FA">
              <a:alpha val="85000"/>
            </a:srgbClr>
          </a:solidFill>
          <a:ln/>
        </p:spPr>
      </p:sp>
      <p:pic>
        <p:nvPicPr>
          <p:cNvPr id="9" name="Image 0" descr="/sessions/determined-amazing-frankli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842" y="139080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模型規格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029200" y="2011680"/>
            <a:ext cx="777240" cy="29260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2" name="Text 8"/>
          <p:cNvSpPr/>
          <p:nvPr/>
        </p:nvSpPr>
        <p:spPr>
          <a:xfrm>
            <a:off x="5029200" y="20116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943600" y="2011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paraphrase-multilingual-MiniLM-L12-v2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0" y="2395728"/>
            <a:ext cx="777240" cy="29260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5" name="Text 11"/>
          <p:cNvSpPr/>
          <p:nvPr/>
        </p:nvSpPr>
        <p:spPr>
          <a:xfrm>
            <a:off x="5029200" y="23957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943600" y="23957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INT8（450 MB → 113 MB）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029200" y="2779776"/>
            <a:ext cx="777240" cy="29260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8" name="Text 14"/>
          <p:cNvSpPr/>
          <p:nvPr/>
        </p:nvSpPr>
        <p:spPr>
          <a:xfrm>
            <a:off x="5029200" y="27797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維度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943600" y="27797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維 embedding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029200" y="3163824"/>
            <a:ext cx="777240" cy="29260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1" name="Text 17"/>
          <p:cNvSpPr/>
          <p:nvPr/>
        </p:nvSpPr>
        <p:spPr>
          <a:xfrm>
            <a:off x="5029200" y="31638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對齊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943600" y="31638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avg = 0.99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029200" y="3547872"/>
            <a:ext cx="777240" cy="29260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4" name="Text 20"/>
          <p:cNvSpPr/>
          <p:nvPr/>
        </p:nvSpPr>
        <p:spPr>
          <a:xfrm>
            <a:off x="5029200" y="35478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943600" y="35478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+ tokenizers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029200" y="3931920"/>
            <a:ext cx="777240" cy="29260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0" y="39319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優勢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943600" y="3931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 PyTorch，輕量部署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0" name="Text 26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Mini MCP Server — POC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測試架構與品質驗證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03520" cy="8229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45720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50292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單元測試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搜尋品質、filtering、edge cases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5303520" cy="8229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2148840"/>
            <a:ext cx="45720" cy="8229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331720"/>
            <a:ext cx="502920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31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整合測試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個 tool、helper 函式、常數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2240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65760" y="3200400"/>
            <a:ext cx="5303520" cy="8229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3200400"/>
            <a:ext cx="4572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383280"/>
            <a:ext cx="50292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83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端對端測試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JSON-RPC 協議完整流程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0" y="3291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365760" y="4251960"/>
            <a:ext cx="5303520" cy="54864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26" name="Image 0" descr="/sessions/determined-amazing-franklin/assets/chec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315968"/>
            <a:ext cx="320040" cy="320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05840" y="4251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個測試，全部通過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943600" y="1097280"/>
            <a:ext cx="2926080" cy="36576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943600" y="1097280"/>
            <a:ext cx="29260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7"/>
          <p:cNvSpPr/>
          <p:nvPr/>
        </p:nvSpPr>
        <p:spPr>
          <a:xfrm>
            <a:off x="612648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搜尋品質提升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217920" y="1691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217920" y="1920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2/9</a:t>
            </a:r>
            <a:endParaRPr lang="en-US" sz="4000" dirty="0"/>
          </a:p>
        </p:txBody>
      </p:sp>
      <p:sp>
        <p:nvSpPr>
          <p:cNvPr id="33" name="Text 30"/>
          <p:cNvSpPr/>
          <p:nvPr/>
        </p:nvSpPr>
        <p:spPr>
          <a:xfrm>
            <a:off x="6217920" y="2468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命中率</a:t>
            </a:r>
            <a:endParaRPr lang="en-US" sz="900" dirty="0"/>
          </a:p>
        </p:txBody>
      </p:sp>
      <p:pic>
        <p:nvPicPr>
          <p:cNvPr id="34" name="Image 1" descr="/sessions/determined-amazing-franklin/assets/arrow-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743200"/>
            <a:ext cx="274320" cy="27432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217920" y="3108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217920" y="3337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9/9</a:t>
            </a:r>
            <a:endParaRPr lang="en-US" sz="4000" dirty="0"/>
          </a:p>
        </p:txBody>
      </p:sp>
      <p:sp>
        <p:nvSpPr>
          <p:cNvPr id="37" name="Text 33"/>
          <p:cNvSpPr/>
          <p:nvPr/>
        </p:nvSpPr>
        <p:spPr>
          <a:xfrm>
            <a:off x="6217920" y="3886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命中率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217920" y="4206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垃圾 chunk 過濾 + 索引精簡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Score Boosting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0" name="Text 36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Mini MCP Server — POC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發現並修復的 Bug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07008"/>
            <a:ext cx="420624" cy="420624"/>
          </a:xfrm>
          <a:prstGeom prst="ellipse">
            <a:avLst/>
          </a:prstGeom>
          <a:solidFill>
            <a:srgbClr val="EF4444">
              <a:alpha val="85000"/>
            </a:srgbClr>
          </a:solidFill>
          <a:ln/>
        </p:spPr>
      </p:sp>
      <p:pic>
        <p:nvPicPr>
          <p:cNvPr id="6" name="Image 0" descr="/sessions/determined-amazing-franklin/assets/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2801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FQBN amb82_mini 不正確</a:t>
            </a:r>
            <a:endParaRPr lang="en-US" sz="1300" dirty="0"/>
          </a:p>
        </p:txBody>
      </p:sp>
      <p:pic>
        <p:nvPicPr>
          <p:cNvPr id="8" name="Image 1" descr="/sessions/determined-amazing-franklin/assets/arrow-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280160"/>
            <a:ext cx="228600" cy="228600"/>
          </a:xfrm>
          <a:prstGeom prst="rect">
            <a:avLst/>
          </a:prstGeom>
        </p:spPr>
      </p:pic>
      <p:pic>
        <p:nvPicPr>
          <p:cNvPr id="9" name="Image 2" descr="/sessions/determined-amazing-franklin/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8016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1208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改為 Ameba_AMB82-MINI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457200" y="1847088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594360" y="1956816"/>
            <a:ext cx="420624" cy="420624"/>
          </a:xfrm>
          <a:prstGeom prst="ellipse">
            <a:avLst/>
          </a:prstGeom>
          <a:solidFill>
            <a:srgbClr val="EF4444">
              <a:alpha val="85000"/>
            </a:srgbClr>
          </a:solidFill>
          <a:ln/>
        </p:spPr>
      </p:sp>
      <p:pic>
        <p:nvPicPr>
          <p:cNvPr id="13" name="Image 3" descr="/sessions/determined-amazing-franklin/assets/bu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029968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1892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UnicodeDecodeError</a:t>
            </a:r>
            <a:endParaRPr lang="en-US" sz="1300" dirty="0"/>
          </a:p>
        </p:txBody>
      </p:sp>
      <p:pic>
        <p:nvPicPr>
          <p:cNvPr id="15" name="Image 4" descr="/sessions/determined-amazing-franklin/assets/arrow-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2029968"/>
            <a:ext cx="228600" cy="228600"/>
          </a:xfrm>
          <a:prstGeom prst="rect">
            <a:avLst/>
          </a:prstGeom>
        </p:spPr>
      </p:pic>
      <p:pic>
        <p:nvPicPr>
          <p:cNvPr id="16" name="Image 5" descr="/sessions/determined-amazing-franklin/asset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029968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212080" y="1892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加 errors='replace'</a:t>
            </a:r>
            <a:endParaRPr lang="en-US" sz="1200" dirty="0"/>
          </a:p>
        </p:txBody>
      </p:sp>
      <p:sp>
        <p:nvSpPr>
          <p:cNvPr id="18" name="Shape 10"/>
          <p:cNvSpPr/>
          <p:nvPr/>
        </p:nvSpPr>
        <p:spPr>
          <a:xfrm>
            <a:off x="457200" y="2596896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594360" y="2706624"/>
            <a:ext cx="420624" cy="420624"/>
          </a:xfrm>
          <a:prstGeom prst="ellipse">
            <a:avLst/>
          </a:prstGeom>
          <a:solidFill>
            <a:srgbClr val="EF4444">
              <a:alpha val="85000"/>
            </a:srgbClr>
          </a:solidFill>
          <a:ln/>
        </p:spPr>
      </p:sp>
      <p:pic>
        <p:nvPicPr>
          <p:cNvPr id="20" name="Image 6" descr="/sessions/determined-amazing-franklin/assets/bu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2779776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188720" y="2642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解析錯誤</a:t>
            </a:r>
            <a:endParaRPr lang="en-US" sz="1300" dirty="0"/>
          </a:p>
        </p:txBody>
      </p:sp>
      <p:pic>
        <p:nvPicPr>
          <p:cNvPr id="22" name="Image 7" descr="/sessions/determined-amazing-franklin/assets/arrow-r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560" y="2779776"/>
            <a:ext cx="228600" cy="228600"/>
          </a:xfrm>
          <a:prstGeom prst="rect">
            <a:avLst/>
          </a:prstGeom>
        </p:spPr>
      </p:pic>
      <p:pic>
        <p:nvPicPr>
          <p:cNvPr id="23" name="Image 8" descr="/sessions/determined-amazing-franklin/asset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2779776"/>
            <a:ext cx="228600" cy="2286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212080" y="2642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支援 arduino-cli v1.x 格式</a:t>
            </a:r>
            <a:endParaRPr lang="en-US" sz="1200" dirty="0"/>
          </a:p>
        </p:txBody>
      </p:sp>
      <p:sp>
        <p:nvSpPr>
          <p:cNvPr id="25" name="Shape 14"/>
          <p:cNvSpPr/>
          <p:nvPr/>
        </p:nvSpPr>
        <p:spPr>
          <a:xfrm>
            <a:off x="457200" y="3346704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15"/>
          <p:cNvSpPr/>
          <p:nvPr/>
        </p:nvSpPr>
        <p:spPr>
          <a:xfrm>
            <a:off x="594360" y="3456432"/>
            <a:ext cx="420624" cy="420624"/>
          </a:xfrm>
          <a:prstGeom prst="ellipse">
            <a:avLst/>
          </a:prstGeom>
          <a:solidFill>
            <a:srgbClr val="EF4444">
              <a:alpha val="85000"/>
            </a:srgbClr>
          </a:solidFill>
          <a:ln/>
        </p:spPr>
      </p:sp>
      <p:pic>
        <p:nvPicPr>
          <p:cNvPr id="27" name="Image 9" descr="/sessions/determined-amazing-franklin/assets/bu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12" y="3529584"/>
            <a:ext cx="274320" cy="27432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1188720" y="3392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偵測不到 CH340</a:t>
            </a:r>
            <a:endParaRPr lang="en-US" sz="1300" dirty="0"/>
          </a:p>
        </p:txBody>
      </p:sp>
      <p:pic>
        <p:nvPicPr>
          <p:cNvPr id="29" name="Image 10" descr="/sessions/determined-amazing-franklin/assets/arrow-righ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0560" y="3529584"/>
            <a:ext cx="228600" cy="228600"/>
          </a:xfrm>
          <a:prstGeom prst="rect">
            <a:avLst/>
          </a:prstGeom>
        </p:spPr>
      </p:pic>
      <p:pic>
        <p:nvPicPr>
          <p:cNvPr id="30" name="Image 11" descr="/sessions/determined-amazing-franklin/assets/che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3529584"/>
            <a:ext cx="228600" cy="22860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212080" y="3392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加入 wchusbserial 比對</a:t>
            </a:r>
            <a:endParaRPr lang="en-US" sz="1200" dirty="0"/>
          </a:p>
        </p:txBody>
      </p:sp>
      <p:sp>
        <p:nvSpPr>
          <p:cNvPr id="32" name="Shape 18"/>
          <p:cNvSpPr/>
          <p:nvPr/>
        </p:nvSpPr>
        <p:spPr>
          <a:xfrm>
            <a:off x="457200" y="4096512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19"/>
          <p:cNvSpPr/>
          <p:nvPr/>
        </p:nvSpPr>
        <p:spPr>
          <a:xfrm>
            <a:off x="594360" y="4206240"/>
            <a:ext cx="420624" cy="420624"/>
          </a:xfrm>
          <a:prstGeom prst="ellipse">
            <a:avLst/>
          </a:prstGeom>
          <a:solidFill>
            <a:srgbClr val="EF4444">
              <a:alpha val="85000"/>
            </a:srgbClr>
          </a:solidFill>
          <a:ln/>
        </p:spPr>
      </p:sp>
      <p:pic>
        <p:nvPicPr>
          <p:cNvPr id="34" name="Image 12" descr="/sessions/determined-amazing-franklin/assets/bug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7512" y="4279392"/>
            <a:ext cx="274320" cy="274320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1188720" y="4142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垃圾 chunk 污染搜尋</a:t>
            </a:r>
            <a:endParaRPr lang="en-US" sz="1300" dirty="0"/>
          </a:p>
        </p:txBody>
      </p:sp>
      <p:pic>
        <p:nvPicPr>
          <p:cNvPr id="36" name="Image 13" descr="/sessions/determined-amazing-franklin/assets/arrow-righ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0560" y="4279392"/>
            <a:ext cx="228600" cy="228600"/>
          </a:xfrm>
          <a:prstGeom prst="rect">
            <a:avLst/>
          </a:prstGeom>
        </p:spPr>
      </p:pic>
      <p:pic>
        <p:nvPicPr>
          <p:cNvPr id="37" name="Image 14" descr="/sessions/determined-amazing-franklin/assets/check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46320" y="4279392"/>
            <a:ext cx="228600" cy="228600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5212080" y="4142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MIN_CHUNK_LEN=50 + runtime 過濾</a:t>
            </a:r>
            <a:endParaRPr lang="en-US" sz="1200" dirty="0"/>
          </a:p>
        </p:txBody>
      </p:sp>
      <p:sp>
        <p:nvSpPr>
          <p:cNvPr id="39" name="Text 22"/>
          <p:cNvSpPr/>
          <p:nvPr/>
        </p:nvSpPr>
        <p:spPr>
          <a:xfrm>
            <a:off x="64008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關鍵技術決策</a:t>
            </a:r>
            <a:endParaRPr lang="en-US" sz="1400" dirty="0"/>
          </a:p>
        </p:txBody>
      </p:sp>
      <p:sp>
        <p:nvSpPr>
          <p:cNvPr id="40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1" name="Text 24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Mini MCP Server — POC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關鍵技術決策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572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00B4D8">
              <a:alpha val="85000"/>
            </a:srgbClr>
          </a:solidFill>
          <a:ln/>
        </p:spPr>
      </p:sp>
      <p:pic>
        <p:nvPicPr>
          <p:cNvPr id="7" name="Image 0" descr="/sessions/determined-amazing-franklin/assets/database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1978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+ ONNX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而非 LanceDB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566160" y="1097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最少依賴、跨平台；180 篇文件不需要向量資料庫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1783080"/>
            <a:ext cx="8412480" cy="658368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1783080"/>
            <a:ext cx="45720" cy="65836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0077B6">
              <a:alpha val="85000"/>
            </a:srgbClr>
          </a:solidFill>
          <a:ln/>
        </p:spPr>
      </p:sp>
      <p:pic>
        <p:nvPicPr>
          <p:cNvPr id="14" name="Image 1" descr="/sessions/determined-amazing-franklin/assets/chart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97510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300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INT8 量化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143000" y="2103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而非完整模型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566160" y="18745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MB → 113 MB，cosine similarity avg = 0.99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65760" y="2560320"/>
            <a:ext cx="8412480" cy="658368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9" name="Shape 15"/>
          <p:cNvSpPr/>
          <p:nvPr/>
        </p:nvSpPr>
        <p:spPr>
          <a:xfrm>
            <a:off x="365760" y="2560320"/>
            <a:ext cx="45720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6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0891B2">
              <a:alpha val="85000"/>
            </a:srgbClr>
          </a:solidFill>
          <a:ln/>
        </p:spPr>
      </p:sp>
      <p:pic>
        <p:nvPicPr>
          <p:cNvPr id="21" name="Image 2" descr="/sessions/determined-amazing-franklin/assets/rocket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752344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4300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Boosting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14300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而非兩階段搜尋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566160" y="2651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實作簡單、效果好、不增加搜尋時間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365760" y="3337560"/>
            <a:ext cx="8412480" cy="658368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6" name="Shape 21"/>
          <p:cNvSpPr/>
          <p:nvPr/>
        </p:nvSpPr>
        <p:spPr>
          <a:xfrm>
            <a:off x="365760" y="3337560"/>
            <a:ext cx="4572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2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pic>
        <p:nvPicPr>
          <p:cNvPr id="28" name="Image 3" descr="/sessions/determined-amazing-franklin/assets/cubes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529584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4300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排除第三方庫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114300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精簡索引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3566160" y="3429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11,546 → 3,530 docs（-69%）、索引 85 → 29 MB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365760" y="4114800"/>
            <a:ext cx="8412480" cy="658368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3" name="Shape 27"/>
          <p:cNvSpPr/>
          <p:nvPr/>
        </p:nvSpPr>
        <p:spPr>
          <a:xfrm>
            <a:off x="365760" y="4114800"/>
            <a:ext cx="45720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28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10B981">
              <a:alpha val="85000"/>
            </a:srgbClr>
          </a:solidFill>
          <a:ln/>
        </p:spPr>
      </p:sp>
      <p:pic>
        <p:nvPicPr>
          <p:cNvPr id="35" name="Image 4" descr="/sessions/determined-amazing-franklin/assets/code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4306824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14300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資料檔分離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1143000" y="4434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 21 KB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3566160" y="42062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套件純程式碼，資料從 GitHub Release 下載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0" name="Text 3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Mini MCP Server — POC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已知限制與未來方向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371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5720" cy="3200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已知限制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RTOS SDK 與 ARM GCC 15.2 相容性問題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28600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上傳需手動按硬體按鈕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83464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788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中文查詢準確度不如英文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38328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文件更新需手動重建索引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45720" cy="3200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未來方向</a:t>
            </a:r>
            <a:endParaRPr lang="en-US" sz="1700" dirty="0"/>
          </a:p>
        </p:txBody>
      </p:sp>
      <p:pic>
        <p:nvPicPr>
          <p:cNvPr id="18" name="Image 0" descr="/sessions/determined-amazing-franklin/asset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709928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0352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 發佈：pip install amb82-mcp</a:t>
            </a:r>
            <a:endParaRPr lang="en-US" sz="1100" dirty="0"/>
          </a:p>
        </p:txBody>
      </p:sp>
      <p:pic>
        <p:nvPicPr>
          <p:cNvPr id="20" name="Image 1" descr="/sessions/determined-amazing-franklin/asset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167128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0352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增量索引更新</a:t>
            </a:r>
            <a:endParaRPr lang="en-US" sz="1100" dirty="0"/>
          </a:p>
        </p:txBody>
      </p:sp>
      <p:pic>
        <p:nvPicPr>
          <p:cNvPr id="22" name="Image 2" descr="/sessions/determined-amazing-franklin/assets/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624328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0352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RTOS SDK 原生編譯支援</a:t>
            </a:r>
            <a:endParaRPr lang="en-US" sz="1100" dirty="0"/>
          </a:p>
        </p:txBody>
      </p:sp>
      <p:pic>
        <p:nvPicPr>
          <p:cNvPr id="24" name="Image 3" descr="/sessions/determined-amazing-franklin/assets/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081528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0352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更多 Ameba 系列開發板</a:t>
            </a:r>
            <a:endParaRPr lang="en-US" sz="1100" dirty="0"/>
          </a:p>
        </p:txBody>
      </p:sp>
      <p:pic>
        <p:nvPicPr>
          <p:cNvPr id="26" name="Image 4" descr="/sessions/determined-amazing-franklin/assets/rock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538728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 Prompt 範本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2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Mini MCP Server — POC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977640" y="1097280"/>
            <a:ext cx="1188720" cy="1188720"/>
          </a:xfrm>
          <a:prstGeom prst="ellipse">
            <a:avLst/>
          </a:prstGeom>
          <a:solidFill>
            <a:srgbClr val="0077B6">
              <a:alpha val="85000"/>
            </a:srgbClr>
          </a:solidFill>
          <a:ln/>
        </p:spPr>
      </p:sp>
      <p:pic>
        <p:nvPicPr>
          <p:cNvPr id="4" name="Image 0" descr="/sessions/determined-amazing-franklin/assets/chip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9158" y="1358798"/>
            <a:ext cx="665683" cy="6656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Mini MCP Server — Proof of Concept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0" y="3794760"/>
            <a:ext cx="1828800" cy="27432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github.com/jimmychintw/amb82-mcp-server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Jimmy Chin  |  jimmy.chin.tw@gmail.com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Mini MCP Server — POC Presentation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AMB82 Mini MCP Server — POC Presentation</dc:title>
  <dc:subject>PptxGenJS Presentation</dc:subject>
  <dc:creator>Jimmy Chin</dc:creator>
  <cp:lastModifiedBy>Jimmy Chin</cp:lastModifiedBy>
  <cp:revision>1</cp:revision>
  <dcterms:created xsi:type="dcterms:W3CDTF">2026-03-19T15:25:10Z</dcterms:created>
  <dcterms:modified xsi:type="dcterms:W3CDTF">2026-03-19T15:25:10Z</dcterms:modified>
</cp:coreProperties>
</file>